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91695" cy="2560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◆ ATLASIA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BE6FF"/>
                </a:solidFill>
                <a:latin typeface="Calibri"/>
              </a:rPr>
              <a:t>Plateforme d'Intelligence Territoriale du Maroc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Outils de Développement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9C6E6"/>
                </a:solidFill>
                <a:latin typeface="Calibri"/>
              </a:rPr>
              <a:t>Architecture, technologies et infrastructure de la plateforme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9496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📅  Juillet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FA8D8"/>
                </a:solidFill>
                <a:latin typeface="Calibri"/>
              </a:rPr>
              <a:t>https://ce4e90f59.abacusai.cloud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🗂️  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Ce que couvre cette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17320"/>
            <a:ext cx="914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563624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Architecture générale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Vue d'ensemble des couches applicatives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417320"/>
            <a:ext cx="914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C3AED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563624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Frontend — Technologies web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HTML5, CSS3, JavaScript, Leaflet, Chart.js, D3.js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60904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660904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660904"/>
            <a:ext cx="914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807208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Backend — PHP 8.3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PHP-FPM, Nginx, API REST interne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60904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660904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660904"/>
            <a:ext cx="914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C3AED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807208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Données — Python &amp; Scraping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Python 3.12, feedparser, JSON, GeoJSON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04488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904488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904488"/>
            <a:ext cx="914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050792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IA générative — Abacus.AI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RouteLLM, grounding strict, AI Studio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04488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3904488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904488"/>
            <a:ext cx="914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C3AED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4050792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Infrastructure &amp; déploiement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Ubuntu, systemd, Cron, Git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48072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5148072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148072"/>
            <a:ext cx="914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5294376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Flux de données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Du corpus de presse à l'interface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5148072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5148072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5148072"/>
            <a:ext cx="914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C3AED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5294376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Sécurité &amp; statistiques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Bonnes pratiques et chiffres clés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🏗️  Architecture générale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Cinq couches, du navigateur à l'infrastructure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4241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109728" cy="7863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🖥️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417320"/>
            <a:ext cx="5760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HTML5 · CSS3 · JavaScript · Leaflet · Chart.js · D3.js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2185416"/>
            <a:ext cx="274320" cy="219456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368296"/>
            <a:ext cx="104241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368296"/>
            <a:ext cx="109728" cy="7863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36829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7C3AED"/>
                </a:solidFill>
                <a:latin typeface="Calibri"/>
              </a:rPr>
              <a:t>⚙️ 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68296"/>
            <a:ext cx="5760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PHP 8.3 · PHP-FPM · API REST interne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43600" y="3136392"/>
            <a:ext cx="274320" cy="219456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319272"/>
            <a:ext cx="104241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319272"/>
            <a:ext cx="109728" cy="7863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319272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🤖  INTELLIGENCE ARTIFICIELLE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319272"/>
            <a:ext cx="5760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Abacus.AI RouteLLM · gpt-4o-mini · moteur local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4087368"/>
            <a:ext cx="274320" cy="219456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4270248"/>
            <a:ext cx="104241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270248"/>
            <a:ext cx="109728" cy="7863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2702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7C3AED"/>
                </a:solidFill>
                <a:latin typeface="Calibri"/>
              </a:rPr>
              <a:t>🗃️  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270248"/>
            <a:ext cx="5760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Python 3.12 · feedparser · JSON · GeoJSON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43600" y="5038344"/>
            <a:ext cx="274320" cy="219456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5221224"/>
            <a:ext cx="104241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5221224"/>
            <a:ext cx="109728" cy="78638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2212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☁️ 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5221224"/>
            <a:ext cx="5760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Ubuntu 24.04 · Nginx · systemd · Cron · Git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33" name="Oval 32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🖥️  Frontend — Technologies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L'interface utilisateur et la visualisation de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Structure sémantique des pages et accessibilité de l'interface.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Mise en page responsive, thème bleu/violet ATLASIA, animations.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JavaScript (vanilla)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Interactivité, appels à l'API interne, modales d'analyse 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Leaflet.js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Cartographie interactive du Maroc — 12 régions (GeoJSON), clic par zone.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Chart.js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Graphiques statistiques : chômage, population et indicateurs régionaux.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D3.js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Nuage de mots dynamique (mots-sociaux.php), tailles proportionnelles à la fréquence.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33" name="Oval 32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⚙️  Backend — PHP 8.3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La logique serveur et les services applicatifs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PHP 8.3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Cœur applicatif : pages dynamiques, rendu des données JSON, logique métier.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Architecture MVC légère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Séparation includes/ (header, footer), pages de vue et endpoints d'API.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API REST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Endpoints api/ai.php, refresh_psychosocial.php, update_data.php (JSON).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PHP-FPM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Gestionnaire de processus FastCGI pour des requêtes PHP performantes.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Nginx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Serveur web et proxy inverse : sert les pages et route vers PHP-FPM.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Pages dynamiques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dashboard, observatoire psychosocial, AI Studio, bibliothèque, admin.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33" name="Oval 32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🗃️  Données — Python &amp;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Collecte, traitement et stockage de l'information territoriale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Python 3.12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Scripts de scraping et de traitement (scrape_psychosocial.py).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feedparser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Collecte des flux RSS de 10 sources de la presse marocaine.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Sources presse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Hespress, Medias24, TelQuel, Le360, Yabiladi… actualité sociale.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Stockage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regions_data.json, psychosocial_corpus.json — données structurées légères.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GeoJSON (geoBoundaries ADM1)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Frontières officielles des 12 régions marocaines.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Corpus psychosocial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177+ articles analysés : mots sociaux, sujets, régions.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33" name="Oval 32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🤖  IA générative — Abacus.AI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Une IA ancrée strictement sur les données ATLASIA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819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API compatible 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7510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Passerelle api/ai.php vers Abacus.AI RouteLLM.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1518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15184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3405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Modèle gpt-4o-mini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Réponses rapides et économiques, orientées analyse.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6732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767328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Grounding strict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7939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L'IA ne répond qu'à partir des données réelles de la plateforme.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1947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919472"/>
            <a:ext cx="109728" cy="10241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3834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Moteur local de secours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315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Analyse déterministe sans clé API (badge 🔒).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🧪  AI Research Studio — 8 outils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488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✓ </a:t>
            </a:r>
            <a:r>
              <a:rPr sz="1300" b="0">
                <a:solidFill>
                  <a:srgbClr val="0F172A"/>
                </a:solidFill>
                <a:latin typeface="Calibri"/>
              </a:rPr>
              <a:t>Résumé automatique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060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✓ </a:t>
            </a:r>
            <a:r>
              <a:rPr sz="1300" b="0">
                <a:solidFill>
                  <a:srgbClr val="0F172A"/>
                </a:solidFill>
                <a:latin typeface="Calibri"/>
              </a:rPr>
              <a:t>Analyse de texte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632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✓ </a:t>
            </a:r>
            <a:r>
              <a:rPr sz="1300" b="0">
                <a:solidFill>
                  <a:srgbClr val="0F172A"/>
                </a:solidFill>
                <a:latin typeface="Calibri"/>
              </a:rPr>
              <a:t>Analyse de sentiments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5204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✓ </a:t>
            </a:r>
            <a:r>
              <a:rPr sz="1300" b="0">
                <a:solidFill>
                  <a:srgbClr val="0F172A"/>
                </a:solidFill>
                <a:latin typeface="Calibri"/>
              </a:rPr>
              <a:t>Statistiques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776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✓ </a:t>
            </a:r>
            <a:r>
              <a:rPr sz="1300" b="0">
                <a:solidFill>
                  <a:srgbClr val="0F172A"/>
                </a:solidFill>
                <a:latin typeface="Calibri"/>
              </a:rPr>
              <a:t>Géo-analyse régionale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4348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✓ </a:t>
            </a:r>
            <a:r>
              <a:rPr sz="1300" b="0">
                <a:solidFill>
                  <a:srgbClr val="0F172A"/>
                </a:solidFill>
                <a:latin typeface="Calibri"/>
              </a:rPr>
              <a:t>Génération de rapports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8920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✓ </a:t>
            </a:r>
            <a:r>
              <a:rPr sz="1300" b="0">
                <a:solidFill>
                  <a:srgbClr val="0F172A"/>
                </a:solidFill>
                <a:latin typeface="Calibri"/>
              </a:rPr>
              <a:t>Détection de lacunes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3492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✓ </a:t>
            </a:r>
            <a:r>
              <a:rPr sz="1300" b="0">
                <a:solidFill>
                  <a:srgbClr val="0F172A"/>
                </a:solidFill>
                <a:latin typeface="Calibri"/>
              </a:rPr>
              <a:t>Recommandations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35" name="Oval 34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☁️  Infrastructure &amp;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Hébergement en continu sur le SuperComputer Abacus.AI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Ubuntu 24.04 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Système d'exploitation serveur du SuperComputer.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Serveur web public, proxy inverse et service des fichiers statiques.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PHP-FPM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Exécution performante du code PHP en FastCGI.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systemd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Gestion des services : démarrage automatique et supervision.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Cron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Rafraîchissement automatique des données chaque jour à 6h UTC.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Git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Contrôle de version du code et historique des évolutions.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33" name="Oval 32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🔄  Flux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Du corpus de presse jusqu'à l'utilisateur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109728" cy="1828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0F172A"/>
                </a:solidFill>
                <a:latin typeface="Calibri"/>
              </a:rPr>
              <a:t>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19019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Presse marocaine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19019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10 sources RSS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9463" y="3246120"/>
            <a:ext cx="192024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24911" y="246888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24911" y="2468880"/>
            <a:ext cx="109728" cy="1828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1" y="2670048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0F172A"/>
                </a:solidFill>
                <a:latin typeface="Calibri"/>
              </a:rPr>
              <a:t>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1" y="3383280"/>
            <a:ext cx="19019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scrape_psychosocial.py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1" y="3840480"/>
            <a:ext cx="19019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Collecte &amp; analyse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4" y="3246120"/>
            <a:ext cx="192024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46902" y="246888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46902" y="2468880"/>
            <a:ext cx="109728" cy="1828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2" y="2670048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0F172A"/>
                </a:solidFill>
                <a:latin typeface="Calibri"/>
              </a:rPr>
              <a:t>🗄️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342" y="3383280"/>
            <a:ext cx="19019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Fichiers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2" y="3840480"/>
            <a:ext cx="19019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Données structurées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13445" y="3246120"/>
            <a:ext cx="192024" cy="29260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68893" y="246888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68893" y="2468880"/>
            <a:ext cx="109728" cy="1828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8893" y="2670048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0F172A"/>
                </a:solidFill>
                <a:latin typeface="Calibri"/>
              </a:rPr>
              <a:t>⚙️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3" y="3383280"/>
            <a:ext cx="19019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PHP 8.3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3" y="3840480"/>
            <a:ext cx="19019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Traitement serveur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35436" y="3246120"/>
            <a:ext cx="192024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90884" y="246888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90884" y="2468880"/>
            <a:ext cx="109728" cy="1828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0884" y="2670048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0F172A"/>
                </a:solidFill>
                <a:latin typeface="Calibri"/>
              </a:rPr>
              <a:t>🖥️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2324" y="3383280"/>
            <a:ext cx="19019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Interface +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2324" y="3840480"/>
            <a:ext cx="19019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Web &amp; AI Studio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02920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Pipeline automatisé : </a:t>
            </a:r>
            <a:r>
              <a:rPr sz="1300" b="0">
                <a:solidFill>
                  <a:srgbClr val="0F172A"/>
                </a:solidFill>
                <a:latin typeface="Calibri"/>
              </a:rPr>
              <a:t>chaque jour à 6h UTC, un cron relance le scraping, régénère les fichiers JSON, et l'interface comme l'IA reflètent immédiatement les nouvelles données — sans intervention manuelle.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40" name="Oval 39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🔐  Sécurité &amp; bonnes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Fiabilité du code et protection des données sensibles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Validation PHP (php -l)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Chaque fichier PHP est validé syntaxiquement avant déploiement.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270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Configuration séparée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config.php isolé de config.sample.php ; secrets hors du dépôt.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Fichiers sensibles protégés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Nginx bloque l'accès direct aux fichiers de config et de données.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718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97180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815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Clé API sécurisée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747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Clé lue depuis les métadonnées serveur / variables d'environnement.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Sauvegardes automatiques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Backups horodatés des données avant chaque mise à jour.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5262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4526280"/>
            <a:ext cx="109728" cy="1371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636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Écriture atomique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029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Fichier temporaire + rename pour éviter toute corruption des données.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33" name="Oval 32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📊  Statistiques de la plateforme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ATLASIA en chiffres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09728" cy="1965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2563EB"/>
                </a:solidFill>
                <a:latin typeface="Calibri"/>
              </a:rPr>
              <a:t>177+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Articles analysés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6002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600200"/>
            <a:ext cx="109728" cy="19659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96596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7C3AED"/>
                </a:solidFill>
                <a:latin typeface="Calibri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9260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Mots sociaux suivis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6002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38744" y="1600200"/>
            <a:ext cx="109728" cy="1965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96596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2563EB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9260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Régions couvertes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404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840480"/>
            <a:ext cx="109728" cy="19659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0624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7C3AED"/>
                </a:solidFill>
                <a:latin typeface="Calibr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663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Sources de presse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2272" y="38404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62272" y="3840480"/>
            <a:ext cx="109728" cy="1965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420624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2563EB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51663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Outils 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38404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38744" y="3840480"/>
            <a:ext cx="109728" cy="19659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420624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7C3AED"/>
                </a:solidFill>
                <a:latin typeface="Calibri"/>
              </a:rPr>
              <a:t>1×/jour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51663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Rafraîchissement auto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ATLASIA ©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19088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Intelligence Territoriale</a:t>
            </a:r>
          </a:p>
        </p:txBody>
      </p:sp>
      <p:sp>
        <p:nvSpPr>
          <p:cNvPr id="33" name="Oval 32"/>
          <p:cNvSpPr/>
          <p:nvPr/>
        </p:nvSpPr>
        <p:spPr>
          <a:xfrm>
            <a:off x="11475720" y="63825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91695" cy="2560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90872"/>
            <a:ext cx="12191695" cy="21671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◆ ATLASIA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Intelligence au service du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9DB6FF"/>
                </a:solidFill>
                <a:latin typeface="Calibri"/>
              </a:rPr>
              <a:t>territoire marocain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BE6FF"/>
                </a:solidFill>
                <a:latin typeface="Calibri"/>
              </a:rPr>
              <a:t>🌐  Plateforme en ligne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https://ce4e90f59.abacusai.cloud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FA8D8"/>
                </a:solidFill>
                <a:latin typeface="Calibri"/>
              </a:rPr>
              <a:t>ATLASIA © 2026  ·  Juillet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